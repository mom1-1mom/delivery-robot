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486" r:id="rId5"/>
    <p:sldId id="530" r:id="rId6"/>
    <p:sldId id="533" r:id="rId7"/>
    <p:sldId id="537" r:id="rId8"/>
    <p:sldId id="431" r:id="rId9"/>
    <p:sldId id="435" r:id="rId10"/>
    <p:sldId id="448" r:id="rId11"/>
    <p:sldId id="450" r:id="rId12"/>
    <p:sldId id="554" r:id="rId13"/>
    <p:sldId id="447" r:id="rId14"/>
    <p:sldId id="542" r:id="rId15"/>
    <p:sldId id="549" r:id="rId16"/>
    <p:sldId id="456" r:id="rId17"/>
    <p:sldId id="543" r:id="rId18"/>
    <p:sldId id="459" r:id="rId19"/>
    <p:sldId id="545" r:id="rId20"/>
    <p:sldId id="548" r:id="rId21"/>
    <p:sldId id="34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F3D"/>
    <a:srgbClr val="421779"/>
    <a:srgbClr val="FF494A"/>
    <a:srgbClr val="D540C9"/>
    <a:srgbClr val="00EA5F"/>
    <a:srgbClr val="FFD800"/>
    <a:srgbClr val="58FF4B"/>
    <a:srgbClr val="6EF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0729" autoAdjust="0"/>
  </p:normalViewPr>
  <p:slideViewPr>
    <p:cSldViewPr snapToGrid="0" snapToObjects="1">
      <p:cViewPr varScale="1">
        <p:scale>
          <a:sx n="90" d="100"/>
          <a:sy n="90" d="100"/>
        </p:scale>
        <p:origin x="5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A90BE-7632-C548-A197-F5BE8B905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021AA-7352-5D46-90C9-D4701DFC1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9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altLang="zh-CN" sz="1200" dirty="0"/>
              <a:t>Portfolio [port-</a:t>
            </a:r>
            <a:r>
              <a:rPr lang="en-GB" altLang="zh-CN" sz="1200" b="1" dirty="0"/>
              <a:t>’</a:t>
            </a:r>
            <a:r>
              <a:rPr lang="en-GB" altLang="zh-CN" sz="1200" b="1" dirty="0" err="1"/>
              <a:t>fow</a:t>
            </a:r>
            <a:r>
              <a:rPr lang="en-GB" altLang="zh-CN" sz="1200" b="1" dirty="0"/>
              <a:t>-</a:t>
            </a:r>
            <a:r>
              <a:rPr lang="en-GB" altLang="zh-CN" sz="1200" dirty="0"/>
              <a:t>lee-oh]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2961B-F5F6-45E8-9AE7-372C46C31170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15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2961B-F5F6-45E8-9AE7-372C46C31170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863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2961B-F5F6-45E8-9AE7-372C46C3117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875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Watch this video and think about 3 different components that make the narrative of this presentation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021AA-7352-5D46-90C9-D4701DFC1C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61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Narrative </a:t>
            </a:r>
            <a:r>
              <a:rPr lang="zh-CN" altLang="en-US" dirty="0"/>
              <a:t>叙述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021AA-7352-5D46-90C9-D4701DFC1C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75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2961B-F5F6-45E8-9AE7-372C46C31170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70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21779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1837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6599" y="6102447"/>
            <a:ext cx="965401" cy="6719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2785" y="5938276"/>
            <a:ext cx="1023855" cy="8361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</a:t>
            </a:r>
            <a:r>
              <a:rPr lang="en-US" dirty="0" err="1"/>
              <a:t>leveldfdf</a:t>
            </a:r>
            <a:endParaRPr lang="en-US" dirty="0"/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3F3D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</a:t>
            </a:r>
            <a:r>
              <a:rPr lang="en-US" dirty="0" err="1"/>
              <a:t>leveldfdf</a:t>
            </a:r>
            <a:endParaRPr lang="en-US" dirty="0"/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60000"/>
                    <a:lumOff val="40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265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</a:t>
            </a:r>
            <a:r>
              <a:rPr lang="en-US" dirty="0" err="1"/>
              <a:t>leveldfdf</a:t>
            </a:r>
            <a:endParaRPr lang="en-US" dirty="0"/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2785" y="5938276"/>
            <a:ext cx="1023855" cy="8361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26599" y="6102447"/>
            <a:ext cx="965401" cy="6719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B050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265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</a:t>
            </a:r>
            <a:r>
              <a:rPr lang="en-US" dirty="0" err="1"/>
              <a:t>leveldfdf</a:t>
            </a:r>
            <a:endParaRPr lang="en-US" dirty="0"/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2785" y="5938276"/>
            <a:ext cx="1023855" cy="8361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26599" y="6102447"/>
            <a:ext cx="965401" cy="6719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00EA5F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8FF4B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6599" y="6102447"/>
            <a:ext cx="965401" cy="6719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2785" y="5938276"/>
            <a:ext cx="1023855" cy="83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4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2">
                    <a:lumMod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4">
                    <a:lumMod val="60000"/>
                    <a:lumOff val="40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C03F3D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494A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841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FFD800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438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0674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322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accent4">
                    <a:lumMod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 sz="2800"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 sz="2400"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 sz="2000"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 sz="2000">
                <a:latin typeface="Avenir Next" charset="0"/>
                <a:ea typeface="Avenir Next" charset="0"/>
                <a:cs typeface="Avenir Next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>
                    <a:lumMod val="40000"/>
                    <a:lumOff val="60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9126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accent1">
                    <a:lumMod val="60000"/>
                    <a:lumOff val="40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>
                    <a:lumMod val="40000"/>
                    <a:lumOff val="60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9913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0701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  <a:lvl2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2pPr>
            <a:lvl3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3pPr>
            <a:lvl4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4pPr>
            <a:lvl5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fld id="{A96F184D-4B37-9648-B598-07504E2C935E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fld id="{CF3A06F1-BD97-004D-A1D3-8319C15B8C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0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F184D-4B37-9648-B598-07504E2C935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1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5" r:id="rId4"/>
    <p:sldLayoutId id="2147483662" r:id="rId5"/>
    <p:sldLayoutId id="2147483666" r:id="rId6"/>
    <p:sldLayoutId id="2147483651" r:id="rId7"/>
    <p:sldLayoutId id="2147483663" r:id="rId8"/>
    <p:sldLayoutId id="2147483664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macod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KF6sLCeBj0s?feature=oembed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www.youtube.com/watch?v=KF6sLCeBj0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DI22001</a:t>
            </a:r>
            <a:br>
              <a:rPr lang="en-US" altLang="zh-CN" b="1" dirty="0"/>
            </a:br>
            <a:r>
              <a:rPr lang="en-US" b="1" dirty="0"/>
              <a:t>Algorithms and </a:t>
            </a:r>
            <a:br>
              <a:rPr lang="en-US" b="1" dirty="0"/>
            </a:br>
            <a:r>
              <a:rPr lang="en-US" b="1" dirty="0"/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58877"/>
            <a:ext cx="9144000" cy="2014540"/>
          </a:xfrm>
        </p:spPr>
        <p:txBody>
          <a:bodyPr>
            <a:normAutofit fontScale="85000" lnSpcReduction="20000"/>
          </a:bodyPr>
          <a:lstStyle/>
          <a:p>
            <a:br>
              <a:rPr lang="en-US" sz="3600" b="1" dirty="0"/>
            </a:br>
            <a:r>
              <a:rPr lang="en-US" sz="3600" b="1" dirty="0"/>
              <a:t>AI Project Assignment</a:t>
            </a:r>
            <a:br>
              <a:rPr lang="en-US" sz="3600" b="1" dirty="0"/>
            </a:br>
            <a:endParaRPr lang="en-US" sz="3600" b="1" dirty="0"/>
          </a:p>
          <a:p>
            <a:r>
              <a:rPr lang="en-US" altLang="zh-CN" sz="2800" b="1" dirty="0"/>
              <a:t>Dr Shu Liu</a:t>
            </a:r>
          </a:p>
          <a:p>
            <a:r>
              <a:rPr lang="en-US" altLang="zh-CN" sz="2800" b="1" dirty="0"/>
              <a:t>sliu002@dundee.ac.uk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20463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D058D3-2A56-D44C-81FC-03DC04CE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AI Project Assignment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FFCE5-C6E2-2642-9C38-4BD1D92C84EE}"/>
              </a:ext>
            </a:extLst>
          </p:cNvPr>
          <p:cNvSpPr/>
          <p:nvPr/>
        </p:nvSpPr>
        <p:spPr>
          <a:xfrm>
            <a:off x="838200" y="1690688"/>
            <a:ext cx="964758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Assignment</a:t>
            </a:r>
            <a:r>
              <a:rPr lang="en-GB" sz="2000" dirty="0"/>
              <a:t> is split in two stages: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Project Proposal (</a:t>
            </a:r>
            <a:r>
              <a:rPr lang="en-US" altLang="zh-CN" sz="2000" dirty="0"/>
              <a:t>formative</a:t>
            </a:r>
            <a:r>
              <a:rPr lang="en-GB" sz="20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Talk with me before</a:t>
            </a:r>
            <a:r>
              <a:rPr lang="en-GB" sz="2000" dirty="0"/>
              <a:t> </a:t>
            </a:r>
            <a:r>
              <a:rPr lang="en-US" altLang="zh-CN" sz="2000" dirty="0"/>
              <a:t>Thursday</a:t>
            </a:r>
            <a:r>
              <a:rPr lang="en-GB" sz="2000" dirty="0"/>
              <a:t> 21 May (optional)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Project Portfolio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0000"/>
                </a:solidFill>
              </a:rPr>
              <a:t>due on Wednesday 10 June</a:t>
            </a:r>
            <a:r>
              <a:rPr lang="en-US" altLang="zh-CN" sz="2000" dirty="0"/>
              <a:t> (subject to change)</a:t>
            </a:r>
            <a:endParaRPr lang="en-GB" sz="2000" b="1" dirty="0">
              <a:solidFill>
                <a:srgbClr val="FF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dirty="0"/>
              <a:t>15-minute presentation (30%)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zh-CN" sz="2000" dirty="0"/>
              <a:t>Implementation code (20%)</a:t>
            </a:r>
            <a:endParaRPr lang="en-GB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dirty="0"/>
              <a:t>2-page (~1500 words) project report (30%)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dirty="0"/>
              <a:t>above and beyond 1 (CSP, planning, UI…)</a:t>
            </a:r>
            <a:r>
              <a:rPr lang="en-GB" altLang="zh-CN" sz="2000" dirty="0"/>
              <a:t> (10%)</a:t>
            </a:r>
            <a:endParaRPr lang="en-GB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zh-CN" sz="2000" dirty="0"/>
              <a:t>above and beyond 2 </a:t>
            </a:r>
            <a:r>
              <a:rPr lang="en-US" altLang="zh-CN" sz="2000" dirty="0"/>
              <a:t>(</a:t>
            </a:r>
            <a:r>
              <a:rPr lang="en-GB" altLang="zh-CN" sz="2000" dirty="0"/>
              <a:t>machine/deep learning) (10%)</a:t>
            </a:r>
            <a:endParaRPr lang="en-GB" sz="2000" dirty="0"/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Lab sessions</a:t>
            </a:r>
            <a:r>
              <a:rPr lang="en-GB" sz="2000" dirty="0"/>
              <a:t> from Week 5 onwards will be more dedicated to AI projects (but still some time for the lab sheets)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6822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D058D3-2A56-D44C-81FC-03DC04CE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AI Project Goals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FFCE5-C6E2-2642-9C38-4BD1D92C84EE}"/>
              </a:ext>
            </a:extLst>
          </p:cNvPr>
          <p:cNvSpPr/>
          <p:nvPr/>
        </p:nvSpPr>
        <p:spPr>
          <a:xfrm>
            <a:off x="838200" y="1690688"/>
            <a:ext cx="964758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Revise</a:t>
            </a:r>
            <a:r>
              <a:rPr lang="en-GB" sz="2000" dirty="0"/>
              <a:t> all your AI materials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Use</a:t>
            </a:r>
            <a:r>
              <a:rPr lang="en-GB" sz="2000" dirty="0"/>
              <a:t> search techniques to create an AI experiment.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You can use your own implementations or rely on a library (e.g. </a:t>
            </a:r>
            <a:r>
              <a:rPr lang="en-GB" sz="2000" dirty="0">
                <a:hlinkClick r:id="rId3"/>
              </a:rPr>
              <a:t>https://github.com/aimacode/</a:t>
            </a:r>
            <a:r>
              <a:rPr lang="en-GB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Identify</a:t>
            </a:r>
            <a:r>
              <a:rPr lang="en-GB" sz="2000" dirty="0"/>
              <a:t> a real-life problem worth solving and represent it as a search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Find a dataset and use it as a basis for the state space of your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Solve</a:t>
            </a:r>
            <a:r>
              <a:rPr lang="en-GB" sz="2000" dirty="0"/>
              <a:t> the problem using three search strategies (uninformed or informed)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Keep note of any complexity implications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Interpret</a:t>
            </a:r>
            <a:r>
              <a:rPr lang="en-GB" sz="2000" dirty="0"/>
              <a:t> the results of your experiment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What do they mean in the real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034195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D058D3-2A56-D44C-81FC-03DC04CE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Above and Beyond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FFCE5-C6E2-2642-9C38-4BD1D92C84EE}"/>
              </a:ext>
            </a:extLst>
          </p:cNvPr>
          <p:cNvSpPr/>
          <p:nvPr/>
        </p:nvSpPr>
        <p:spPr>
          <a:xfrm>
            <a:off x="838200" y="1690688"/>
            <a:ext cx="96475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Something beyond classical search or not covered in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Represent your problem as a Constraint Satisfaction Problem </a:t>
            </a:r>
            <a:br>
              <a:rPr lang="en-GB" sz="2000" dirty="0"/>
            </a:br>
            <a:r>
              <a:rPr lang="en-GB" sz="2000" dirty="0"/>
              <a:t>(and solve it!)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Represent your problem as a Planning Problem </a:t>
            </a:r>
            <a:br>
              <a:rPr lang="en-GB" sz="2000" dirty="0"/>
            </a:br>
            <a:r>
              <a:rPr lang="en-GB" sz="2000" dirty="0"/>
              <a:t>(and solve it!)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Use machine/deep learning techniques to solve the problem </a:t>
            </a:r>
            <a:br>
              <a:rPr lang="en-GB" sz="2000" dirty="0"/>
            </a:br>
            <a:r>
              <a:rPr lang="en-GB" sz="2000" dirty="0"/>
              <a:t>(in addition to the three traditional search strategies)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Develop a good, accessible UI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r>
              <a:rPr lang="en-GB" sz="2000" b="1" dirty="0">
                <a:solidFill>
                  <a:srgbClr val="FF0000"/>
                </a:solidFill>
              </a:rPr>
              <a:t>But remember that this is </a:t>
            </a:r>
            <a:r>
              <a:rPr lang="en-GB" sz="2000" b="1" u="sng" dirty="0">
                <a:solidFill>
                  <a:srgbClr val="FF0000"/>
                </a:solidFill>
              </a:rPr>
              <a:t>worth 20% </a:t>
            </a:r>
            <a:r>
              <a:rPr lang="en-GB" sz="2000" b="1" dirty="0">
                <a:solidFill>
                  <a:srgbClr val="FF0000"/>
                </a:solidFill>
              </a:rPr>
              <a:t>of the assignment grade! </a:t>
            </a:r>
          </a:p>
          <a:p>
            <a:pPr lvl="1"/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62256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2" descr="Results"/>
          <p:cNvSpPr/>
          <p:nvPr/>
        </p:nvSpPr>
        <p:spPr>
          <a:xfrm>
            <a:off x="5024437" y="1478757"/>
            <a:ext cx="2143125" cy="1500188"/>
          </a:xfrm>
          <a:prstGeom prst="triangle">
            <a:avLst/>
          </a:prstGeom>
          <a:solidFill>
            <a:schemeClr val="accent5">
              <a:alpha val="6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rPr>
              <a:t>Results</a:t>
            </a:r>
          </a:p>
        </p:txBody>
      </p:sp>
      <p:sp>
        <p:nvSpPr>
          <p:cNvPr id="6" name="Trapezoid 5" descr="Solution Finding Techniques"/>
          <p:cNvSpPr/>
          <p:nvPr/>
        </p:nvSpPr>
        <p:spPr>
          <a:xfrm>
            <a:off x="4100512" y="3070846"/>
            <a:ext cx="3990976" cy="1281409"/>
          </a:xfrm>
          <a:prstGeom prst="trapezoid">
            <a:avLst>
              <a:gd name="adj" fmla="val 71830"/>
            </a:avLst>
          </a:prstGeom>
          <a:solidFill>
            <a:schemeClr val="accent5">
              <a:alpha val="61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rPr>
              <a:t>Solution finding techniques</a:t>
            </a:r>
          </a:p>
        </p:txBody>
      </p:sp>
      <p:sp>
        <p:nvSpPr>
          <p:cNvPr id="7" name="Trapezoid 6" descr="Problems and data"/>
          <p:cNvSpPr/>
          <p:nvPr/>
        </p:nvSpPr>
        <p:spPr>
          <a:xfrm>
            <a:off x="3174204" y="4434857"/>
            <a:ext cx="5824539" cy="1281409"/>
          </a:xfrm>
          <a:prstGeom prst="trapezoid">
            <a:avLst>
              <a:gd name="adj" fmla="val 71830"/>
            </a:avLst>
          </a:prstGeom>
          <a:solidFill>
            <a:schemeClr val="accent5">
              <a:alpha val="6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venir Next" charset="0"/>
                <a:ea typeface="Avenir Next" charset="0"/>
                <a:cs typeface="Avenir Next" charset="0"/>
              </a:rPr>
              <a:t>Problem and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3252" y="6100763"/>
            <a:ext cx="26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venir Next" charset="0"/>
                <a:ea typeface="Avenir Next" charset="0"/>
                <a:cs typeface="Avenir Next" charset="0"/>
              </a:rPr>
              <a:t>The project pyramid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FAE1E40-AE07-5746-A4D5-EFE9EA2C0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AI Project “Ingredients” (and sizes)</a:t>
            </a:r>
          </a:p>
        </p:txBody>
      </p:sp>
    </p:spTree>
    <p:extLst>
      <p:ext uri="{BB962C8B-B14F-4D97-AF65-F5344CB8AC3E}">
        <p14:creationId xmlns:p14="http://schemas.microsoft.com/office/powerpoint/2010/main" val="104906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4663" y="6457890"/>
            <a:ext cx="593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venir Next" charset="0"/>
                <a:ea typeface="Avenir Next" charset="0"/>
                <a:cs typeface="Avenir Next" charset="0"/>
                <a:hlinkClick r:id="rId4"/>
              </a:rPr>
              <a:t>https://</a:t>
            </a:r>
            <a:r>
              <a:rPr lang="en-US" sz="2000" dirty="0" err="1">
                <a:latin typeface="Avenir Next" charset="0"/>
                <a:ea typeface="Avenir Next" charset="0"/>
                <a:cs typeface="Avenir Next" charset="0"/>
                <a:hlinkClick r:id="rId4"/>
              </a:rPr>
              <a:t>www.youtube.com</a:t>
            </a:r>
            <a:r>
              <a:rPr lang="en-US" sz="2000" dirty="0">
                <a:latin typeface="Avenir Next" charset="0"/>
                <a:ea typeface="Avenir Next" charset="0"/>
                <a:cs typeface="Avenir Next" charset="0"/>
                <a:hlinkClick r:id="rId4"/>
              </a:rPr>
              <a:t>/</a:t>
            </a:r>
            <a:r>
              <a:rPr lang="en-US" sz="2000" dirty="0" err="1">
                <a:latin typeface="Avenir Next" charset="0"/>
                <a:ea typeface="Avenir Next" charset="0"/>
                <a:cs typeface="Avenir Next" charset="0"/>
                <a:hlinkClick r:id="rId4"/>
              </a:rPr>
              <a:t>watch?v</a:t>
            </a:r>
            <a:r>
              <a:rPr lang="en-US" sz="2000" dirty="0">
                <a:latin typeface="Avenir Next" charset="0"/>
                <a:ea typeface="Avenir Next" charset="0"/>
                <a:cs typeface="Avenir Next" charset="0"/>
                <a:hlinkClick r:id="rId4"/>
              </a:rPr>
              <a:t>=KF6sLCeBj0s</a:t>
            </a:r>
            <a:endParaRPr lang="en-US" sz="2000" dirty="0"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6" name="Online Media 5" descr="Deep Blue vs Kasparov: How a computer beat best chess player in the world - BBC News">
            <a:hlinkClick r:id="" action="ppaction://media"/>
            <a:extLst>
              <a:ext uri="{FF2B5EF4-FFF2-40B4-BE49-F238E27FC236}">
                <a16:creationId xmlns:a16="http://schemas.microsoft.com/office/drawing/2014/main" id="{534ECA48-D37B-E542-AE8C-2F3DFDF6659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948329" y="1138144"/>
            <a:ext cx="8042836" cy="454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3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71736"/>
            <a:ext cx="10515600" cy="3376613"/>
          </a:xfrm>
        </p:spPr>
        <p:txBody>
          <a:bodyPr>
            <a:normAutofit/>
          </a:bodyPr>
          <a:lstStyle/>
          <a:p>
            <a:r>
              <a:rPr lang="en-US" b="1" dirty="0"/>
              <a:t>Real-world problem and data</a:t>
            </a:r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US" b="1" dirty="0"/>
              <a:t>problem representation </a:t>
            </a:r>
            <a:r>
              <a:rPr lang="en-US" dirty="0"/>
              <a:t>and </a:t>
            </a:r>
            <a:r>
              <a:rPr lang="en-US" b="1" dirty="0"/>
              <a:t>search strategies </a:t>
            </a:r>
            <a:r>
              <a:rPr lang="en-US" dirty="0"/>
              <a:t>tools</a:t>
            </a:r>
          </a:p>
          <a:p>
            <a:endParaRPr lang="en-US" dirty="0"/>
          </a:p>
          <a:p>
            <a:r>
              <a:rPr lang="en-US" dirty="0"/>
              <a:t>Explaining the </a:t>
            </a:r>
            <a:r>
              <a:rPr lang="en-US" b="1" dirty="0"/>
              <a:t>meaning</a:t>
            </a:r>
            <a:r>
              <a:rPr lang="en-US" dirty="0"/>
              <a:t> of the results produced by these tools and why they are </a:t>
            </a:r>
            <a:r>
              <a:rPr lang="en-US" b="1" dirty="0"/>
              <a:t>useful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90232C-F5B2-4E40-85F9-CC51BFCF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AI Project Narrative</a:t>
            </a:r>
          </a:p>
        </p:txBody>
      </p:sp>
    </p:spTree>
    <p:extLst>
      <p:ext uri="{BB962C8B-B14F-4D97-AF65-F5344CB8AC3E}">
        <p14:creationId xmlns:p14="http://schemas.microsoft.com/office/powerpoint/2010/main" val="28491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u="sng" dirty="0"/>
              <a:t>What</a:t>
            </a:r>
            <a:r>
              <a:rPr lang="en-US" dirty="0"/>
              <a:t> is the AI problem that we want to solve?</a:t>
            </a:r>
          </a:p>
          <a:p>
            <a:pPr marL="514350" indent="-514350">
              <a:buFont typeface="+mj-lt"/>
              <a:buAutoNum type="arabicPeriod"/>
            </a:pPr>
            <a:endParaRPr lang="en-US" u="sng" dirty="0"/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Why</a:t>
            </a:r>
            <a:r>
              <a:rPr lang="en-US" dirty="0"/>
              <a:t> it is an important problem to solve?</a:t>
            </a:r>
          </a:p>
          <a:p>
            <a:pPr marL="514350" indent="-514350">
              <a:buFont typeface="+mj-lt"/>
              <a:buAutoNum type="arabicPeriod"/>
            </a:pPr>
            <a:endParaRPr lang="en-US" u="sng" dirty="0"/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How</a:t>
            </a:r>
            <a:r>
              <a:rPr lang="en-US" dirty="0"/>
              <a:t> can we solve it?</a:t>
            </a:r>
          </a:p>
          <a:p>
            <a:pPr marL="514350" indent="-514350">
              <a:buFont typeface="+mj-lt"/>
              <a:buAutoNum type="arabicPeriod"/>
            </a:pPr>
            <a:endParaRPr lang="en-US" u="sng" dirty="0"/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How</a:t>
            </a:r>
            <a:r>
              <a:rPr lang="en-US" dirty="0"/>
              <a:t> can we solve it in a better way (faster, more robust and efficient)?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72D9C3-48D1-9045-8216-0509E112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Key Questions tackling an AI problem</a:t>
            </a:r>
          </a:p>
        </p:txBody>
      </p:sp>
    </p:spTree>
    <p:extLst>
      <p:ext uri="{BB962C8B-B14F-4D97-AF65-F5344CB8AC3E}">
        <p14:creationId xmlns:p14="http://schemas.microsoft.com/office/powerpoint/2010/main" val="170021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6D058D3-2A56-D44C-81FC-03DC04CE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455761"/>
          </a:xfrm>
        </p:spPr>
        <p:txBody>
          <a:bodyPr/>
          <a:lstStyle/>
          <a:p>
            <a:r>
              <a:rPr lang="en-US" b="1" dirty="0"/>
              <a:t>Templates (optional)</a:t>
            </a:r>
            <a:br>
              <a:rPr lang="en-US" b="1" dirty="0"/>
            </a:br>
            <a:br>
              <a:rPr lang="en-US" b="1" dirty="0"/>
            </a:br>
            <a:r>
              <a:rPr lang="en-US" altLang="zh-CN" b="1" dirty="0"/>
              <a:t>Marking Scheme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/>
              <a:t>Submission</a:t>
            </a:r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E7AC65-7EE6-4604-A27B-782BE80DB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2257"/>
            <a:ext cx="10515600" cy="172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will be released under Assessment Area &gt; Assessment: AI Project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75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371807"/>
              </p:ext>
            </p:extLst>
          </p:nvPr>
        </p:nvGraphicFramePr>
        <p:xfrm>
          <a:off x="2032000" y="2105554"/>
          <a:ext cx="8128000" cy="1889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Penalty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Lack of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-5%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Lack of clarity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-5%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Falling out of the time </a:t>
                      </a:r>
                      <a:r>
                        <a:rPr lang="en-US" sz="2000" b="1" baseline="0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slot </a:t>
                      </a:r>
                    </a:p>
                    <a:p>
                      <a:pPr algn="ctr"/>
                      <a:r>
                        <a:rPr lang="en-US" sz="2000" b="1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(15min)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venir Next" charset="0"/>
                          <a:ea typeface="Avenir Next" charset="0"/>
                          <a:cs typeface="Avenir Next" charset="0"/>
                        </a:rPr>
                        <a:t>-5%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838200" y="4729163"/>
            <a:ext cx="10515600" cy="1771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4">
                    <a:lumMod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Avoid penalties:</a:t>
            </a:r>
            <a:r>
              <a:rPr lang="en-US" dirty="0">
                <a:solidFill>
                  <a:srgbClr val="C00000"/>
                </a:solidFill>
                <a:sym typeface="Wingdings"/>
              </a:rPr>
              <a:t> </a:t>
            </a:r>
            <a:br>
              <a:rPr lang="en-US" dirty="0">
                <a:solidFill>
                  <a:srgbClr val="C00000"/>
                </a:solidFill>
                <a:sym typeface="Wingdings"/>
              </a:rPr>
            </a:br>
            <a:r>
              <a:rPr lang="en-US" dirty="0">
                <a:solidFill>
                  <a:srgbClr val="C00000"/>
                </a:solidFill>
              </a:rPr>
              <a:t>Make your PPT presentation </a:t>
            </a:r>
            <a:r>
              <a:rPr lang="en-US" u="sng" dirty="0">
                <a:solidFill>
                  <a:srgbClr val="C00000"/>
                </a:solidFill>
              </a:rPr>
              <a:t>nice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u="sng" dirty="0">
                <a:solidFill>
                  <a:srgbClr val="C00000"/>
                </a:solidFill>
              </a:rPr>
              <a:t>clear</a:t>
            </a:r>
            <a:r>
              <a:rPr lang="en-US" dirty="0">
                <a:solidFill>
                  <a:srgbClr val="C00000"/>
                </a:solidFill>
              </a:rPr>
              <a:t> and </a:t>
            </a:r>
            <a:r>
              <a:rPr lang="en-US" u="sng" dirty="0">
                <a:solidFill>
                  <a:srgbClr val="C00000"/>
                </a:solidFill>
              </a:rPr>
              <a:t>well-organized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algn="ctr"/>
            <a:endParaRPr lang="en-US" dirty="0">
              <a:solidFill>
                <a:srgbClr val="C00000"/>
              </a:solidFill>
              <a:sym typeface="Wingdings"/>
            </a:endParaRPr>
          </a:p>
          <a:p>
            <a:pPr algn="ctr"/>
            <a:r>
              <a:rPr lang="en-US" dirty="0">
                <a:solidFill>
                  <a:srgbClr val="C00000"/>
                </a:solidFill>
                <a:sym typeface="Wingdings"/>
              </a:rPr>
              <a:t>Make it fit into a 15min time slot </a:t>
            </a:r>
            <a:r>
              <a:rPr lang="en-US" u="sng" dirty="0">
                <a:solidFill>
                  <a:srgbClr val="C00000"/>
                </a:solidFill>
                <a:sym typeface="Wingdings"/>
              </a:rPr>
              <a:t>with time for questions</a:t>
            </a:r>
            <a:r>
              <a:rPr lang="en-US" dirty="0">
                <a:solidFill>
                  <a:srgbClr val="C00000"/>
                </a:solidFill>
                <a:sym typeface="Wingdings"/>
              </a:rPr>
              <a:t>!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BE9D5B-EB2A-2246-82CB-E5CE5383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Presentation “penalties”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67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472D9C3-48D1-9045-8216-0509E112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Peer Reviews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A8B5D6-C212-B74E-B4A6-DBBA5B9E8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377" y="1946275"/>
            <a:ext cx="10340423" cy="4546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Peer reviews are essential for us to mark individual work in group work assignments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Everyone should submit a peer review (after the final submission)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template has been uploaded in </a:t>
            </a:r>
            <a:r>
              <a:rPr lang="en-US" dirty="0" err="1"/>
              <a:t>MyDundee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Preparing the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377" y="1946275"/>
            <a:ext cx="10340423" cy="4546600"/>
          </a:xfrm>
        </p:spPr>
        <p:txBody>
          <a:bodyPr/>
          <a:lstStyle/>
          <a:p>
            <a:pPr algn="just"/>
            <a:r>
              <a:rPr lang="en-US" dirty="0"/>
              <a:t>Focus on the problem and its relevance</a:t>
            </a:r>
          </a:p>
          <a:p>
            <a:pPr algn="just"/>
            <a:r>
              <a:rPr lang="en-US" dirty="0"/>
              <a:t>Describe the source and nature of the dataset</a:t>
            </a:r>
          </a:p>
          <a:p>
            <a:pPr algn="just"/>
            <a:r>
              <a:rPr lang="en-US" dirty="0"/>
              <a:t>Explain what results you are expecting to get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	</a:t>
            </a:r>
            <a:r>
              <a:rPr lang="en-US" b="1" dirty="0"/>
              <a:t>Questions 1 and 2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Relevance and scoping – a.k.a.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SANITY CHECK</a:t>
            </a:r>
          </a:p>
        </p:txBody>
      </p:sp>
    </p:spTree>
    <p:extLst>
      <p:ext uri="{BB962C8B-B14F-4D97-AF65-F5344CB8AC3E}">
        <p14:creationId xmlns:p14="http://schemas.microsoft.com/office/powerpoint/2010/main" val="427264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Preparing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946275"/>
            <a:ext cx="10820399" cy="45466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600" dirty="0"/>
              <a:t>Time your presentation to </a:t>
            </a:r>
            <a:r>
              <a:rPr lang="en-US" sz="3600" b="1" dirty="0"/>
              <a:t>10 minutes</a:t>
            </a:r>
            <a:r>
              <a:rPr lang="en-US" sz="3600" dirty="0"/>
              <a:t>, plus </a:t>
            </a:r>
            <a:r>
              <a:rPr lang="en-US" sz="3600" b="1" dirty="0"/>
              <a:t>5 for questions</a:t>
            </a:r>
            <a:r>
              <a:rPr lang="en-US" sz="3600" dirty="0"/>
              <a:t> from the audience.</a:t>
            </a:r>
            <a:r>
              <a:rPr lang="en-US" sz="3600" b="1" dirty="0"/>
              <a:t> 15-minute</a:t>
            </a:r>
            <a:r>
              <a:rPr lang="en-US" sz="3600" dirty="0"/>
              <a:t> total slot.</a:t>
            </a:r>
          </a:p>
          <a:p>
            <a:pPr>
              <a:lnSpc>
                <a:spcPct val="120000"/>
              </a:lnSpc>
            </a:pPr>
            <a:endParaRPr lang="en-US" sz="3600" dirty="0"/>
          </a:p>
          <a:p>
            <a:pPr>
              <a:lnSpc>
                <a:spcPct val="120000"/>
              </a:lnSpc>
            </a:pPr>
            <a:r>
              <a:rPr lang="en-US" sz="3600" dirty="0"/>
              <a:t>Include the </a:t>
            </a:r>
            <a:r>
              <a:rPr lang="en-US" sz="3600" b="1" dirty="0"/>
              <a:t>title</a:t>
            </a:r>
            <a:r>
              <a:rPr lang="en-US" sz="3600" dirty="0"/>
              <a:t>, </a:t>
            </a:r>
            <a:r>
              <a:rPr lang="en-US" sz="3600" b="1" dirty="0"/>
              <a:t>members of the team</a:t>
            </a:r>
            <a:r>
              <a:rPr lang="en-US" sz="3600" dirty="0"/>
              <a:t>, and </a:t>
            </a:r>
            <a:r>
              <a:rPr lang="en-US" sz="3600" b="1" dirty="0"/>
              <a:t>roles</a:t>
            </a:r>
          </a:p>
          <a:p>
            <a:pPr>
              <a:lnSpc>
                <a:spcPct val="120000"/>
              </a:lnSpc>
            </a:pPr>
            <a:endParaRPr lang="en-GB" sz="3600" dirty="0"/>
          </a:p>
          <a:p>
            <a:pPr>
              <a:lnSpc>
                <a:spcPct val="120000"/>
              </a:lnSpc>
            </a:pPr>
            <a:r>
              <a:rPr lang="en-GB" sz="3600" dirty="0"/>
              <a:t>Describe the </a:t>
            </a:r>
            <a:r>
              <a:rPr lang="en-GB" sz="3600" b="1" dirty="0"/>
              <a:t>problem</a:t>
            </a:r>
            <a:r>
              <a:rPr lang="en-GB" sz="3600" dirty="0"/>
              <a:t> and its </a:t>
            </a:r>
            <a:r>
              <a:rPr lang="en-GB" sz="3600" b="1" dirty="0"/>
              <a:t>relevance</a:t>
            </a:r>
            <a:r>
              <a:rPr lang="en-GB" sz="3600" dirty="0"/>
              <a:t>, your data and your </a:t>
            </a:r>
            <a:r>
              <a:rPr lang="en-GB" sz="3600" b="1" dirty="0"/>
              <a:t>approach</a:t>
            </a:r>
            <a:r>
              <a:rPr lang="en-GB" sz="3600" dirty="0"/>
              <a:t> to solving the problem using search strategies</a:t>
            </a:r>
          </a:p>
          <a:p>
            <a:pPr>
              <a:lnSpc>
                <a:spcPct val="120000"/>
              </a:lnSpc>
            </a:pPr>
            <a:endParaRPr lang="en-GB" sz="3600" dirty="0"/>
          </a:p>
          <a:p>
            <a:pPr>
              <a:lnSpc>
                <a:spcPct val="120000"/>
              </a:lnSpc>
            </a:pPr>
            <a:r>
              <a:rPr lang="en-GB" sz="3600" dirty="0"/>
              <a:t>Present the </a:t>
            </a:r>
            <a:r>
              <a:rPr lang="en-GB" sz="3600" b="1" dirty="0"/>
              <a:t>results</a:t>
            </a:r>
            <a:r>
              <a:rPr lang="en-GB" sz="3600" dirty="0"/>
              <a:t> and their </a:t>
            </a:r>
            <a:r>
              <a:rPr lang="en-GB" sz="3600" b="1" dirty="0"/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414709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Preparing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946275"/>
            <a:ext cx="10820399" cy="419903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Mention anything you have done that is </a:t>
            </a:r>
            <a:r>
              <a:rPr lang="en-US" sz="2400" b="1" dirty="0"/>
              <a:t>above and beyond</a:t>
            </a:r>
            <a:r>
              <a:rPr lang="en-US" sz="2400" dirty="0"/>
              <a:t>, and a </a:t>
            </a:r>
            <a:r>
              <a:rPr lang="en-US" sz="2400" b="1" dirty="0"/>
              <a:t>conclusion</a:t>
            </a:r>
            <a:r>
              <a:rPr lang="en-US" sz="2400" dirty="0"/>
              <a:t>.</a:t>
            </a:r>
          </a:p>
          <a:p>
            <a:pPr>
              <a:lnSpc>
                <a:spcPct val="120000"/>
              </a:lnSpc>
            </a:pP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400" b="1" dirty="0"/>
              <a:t>Motivate</a:t>
            </a:r>
            <a:r>
              <a:rPr lang="en-US" sz="2400" dirty="0"/>
              <a:t> your audience to engage with the problem and with your results.  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Avoid technical details. 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Use images!</a:t>
            </a:r>
          </a:p>
          <a:p>
            <a:pPr>
              <a:lnSpc>
                <a:spcPct val="120000"/>
              </a:lnSpc>
            </a:pP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2400" dirty="0"/>
              <a:t>All students should be at the presentation, but not all need to present (think skillset!)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br>
              <a:rPr lang="en-US" sz="2400" dirty="0"/>
            </a:br>
            <a:br>
              <a:rPr lang="en-US" sz="2400" dirty="0"/>
            </a:b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1117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Preparing the final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925" y="1992312"/>
            <a:ext cx="10340423" cy="4546600"/>
          </a:xfrm>
        </p:spPr>
        <p:txBody>
          <a:bodyPr/>
          <a:lstStyle/>
          <a:p>
            <a:pPr algn="just"/>
            <a:r>
              <a:rPr lang="en-US" dirty="0"/>
              <a:t>Focus on the approach the results and interpretation </a:t>
            </a:r>
          </a:p>
          <a:p>
            <a:pPr algn="just"/>
            <a:r>
              <a:rPr lang="en-US" dirty="0"/>
              <a:t>Reflect on limitations and room for improvement</a:t>
            </a:r>
          </a:p>
          <a:p>
            <a:pPr algn="just"/>
            <a:r>
              <a:rPr lang="en-US" dirty="0"/>
              <a:t>Link to algorithms and their complexity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	</a:t>
            </a:r>
            <a:r>
              <a:rPr lang="en-US" b="1" dirty="0"/>
              <a:t>Questions 3 and 4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Impact and the future</a:t>
            </a:r>
          </a:p>
        </p:txBody>
      </p:sp>
    </p:spTree>
    <p:extLst>
      <p:ext uri="{BB962C8B-B14F-4D97-AF65-F5344CB8AC3E}">
        <p14:creationId xmlns:p14="http://schemas.microsoft.com/office/powerpoint/2010/main" val="183219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Concluding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8825"/>
            <a:ext cx="10515600" cy="4148138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Check</a:t>
            </a:r>
            <a:r>
              <a:rPr lang="en-US" sz="3200" dirty="0"/>
              <a:t> the project brief carefully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b="1" dirty="0"/>
              <a:t>Ask questions </a:t>
            </a:r>
            <a:r>
              <a:rPr lang="en-US" sz="3200" dirty="0"/>
              <a:t>if you find anything ambiguous in the project guidelines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Discuss your ideas during </a:t>
            </a:r>
            <a:r>
              <a:rPr lang="en-US" sz="3200" b="1" u="sng" dirty="0"/>
              <a:t>lab sessions</a:t>
            </a:r>
            <a:r>
              <a:rPr lang="en-US" sz="3200" b="1" dirty="0"/>
              <a:t> </a:t>
            </a:r>
            <a:r>
              <a:rPr lang="en-US" sz="3200" dirty="0"/>
              <a:t>within your group and with the lecturing team</a:t>
            </a:r>
          </a:p>
        </p:txBody>
      </p:sp>
    </p:spTree>
    <p:extLst>
      <p:ext uri="{BB962C8B-B14F-4D97-AF65-F5344CB8AC3E}">
        <p14:creationId xmlns:p14="http://schemas.microsoft.com/office/powerpoint/2010/main" val="304857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8825"/>
            <a:ext cx="9982200" cy="4148138"/>
          </a:xfrm>
        </p:spPr>
        <p:txBody>
          <a:bodyPr>
            <a:normAutofit/>
          </a:bodyPr>
          <a:lstStyle/>
          <a:p>
            <a:r>
              <a:rPr lang="en-US" sz="3200" b="1" dirty="0"/>
              <a:t>Q1:  </a:t>
            </a:r>
            <a:r>
              <a:rPr lang="en-GB" dirty="0"/>
              <a:t>how can we source data?</a:t>
            </a:r>
            <a:endParaRPr lang="en-US" sz="3200" dirty="0"/>
          </a:p>
          <a:p>
            <a:pPr algn="just"/>
            <a:endParaRPr lang="en-US" sz="3200" dirty="0"/>
          </a:p>
          <a:p>
            <a:r>
              <a:rPr lang="en-US" sz="3200" b="1" dirty="0"/>
              <a:t>Q2:</a:t>
            </a:r>
            <a:r>
              <a:rPr lang="en-GB" sz="3200" b="1" dirty="0"/>
              <a:t>  </a:t>
            </a:r>
            <a:r>
              <a:rPr lang="en-GB" sz="3200" dirty="0"/>
              <a:t>can we still change the proposal if it turns out not ok?</a:t>
            </a:r>
          </a:p>
          <a:p>
            <a:pPr algn="just"/>
            <a:endParaRPr lang="en-US" sz="3200" dirty="0"/>
          </a:p>
          <a:p>
            <a:r>
              <a:rPr lang="en-US" sz="3200" b="1" dirty="0"/>
              <a:t>Q3: </a:t>
            </a:r>
            <a:r>
              <a:rPr lang="en-GB" sz="3200" dirty="0"/>
              <a:t>how will we actually do the searches and model the results?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2118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24526" y="1921882"/>
            <a:ext cx="8602579" cy="1470025"/>
          </a:xfrm>
        </p:spPr>
        <p:txBody>
          <a:bodyPr>
            <a:normAutofit/>
          </a:bodyPr>
          <a:lstStyle/>
          <a:p>
            <a:r>
              <a:rPr lang="en-US" sz="4800" b="1" dirty="0"/>
              <a:t>Thank you!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19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7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2DD1"/>
      </a:accent1>
      <a:accent2>
        <a:srgbClr val="3A20D5"/>
      </a:accent2>
      <a:accent3>
        <a:srgbClr val="7F8FA9"/>
      </a:accent3>
      <a:accent4>
        <a:srgbClr val="4000EB"/>
      </a:accent4>
      <a:accent5>
        <a:srgbClr val="00C4BB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E1AD08E6C4EC4C99DA94898F3BEEA6" ma:contentTypeVersion="12" ma:contentTypeDescription="Create a new document." ma:contentTypeScope="" ma:versionID="68e24eb073f2a7537a5c2af757b9c69f">
  <xsd:schema xmlns:xsd="http://www.w3.org/2001/XMLSchema" xmlns:xs="http://www.w3.org/2001/XMLSchema" xmlns:p="http://schemas.microsoft.com/office/2006/metadata/properties" xmlns:ns2="9d87457a-dd41-435b-9930-4d78cdfcb6d7" xmlns:ns3="58b89f83-7267-4e05-9cc9-553559b8ec9f" targetNamespace="http://schemas.microsoft.com/office/2006/metadata/properties" ma:root="true" ma:fieldsID="30ab884c2eb9986072101a8dc40ffc95" ns2:_="" ns3:_="">
    <xsd:import namespace="9d87457a-dd41-435b-9930-4d78cdfcb6d7"/>
    <xsd:import namespace="58b89f83-7267-4e05-9cc9-553559b8ec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7457a-dd41-435b-9930-4d78cdfcb6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5643730-4106-43af-9ce9-7aa0c1c95a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89f83-7267-4e05-9cc9-553559b8e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87457a-dd41-435b-9930-4d78cdfcb6d7">
      <Terms xmlns="http://schemas.microsoft.com/office/infopath/2007/PartnerControls"/>
    </lcf76f155ced4ddcb4097134ff3c332f>
    <SharedWithUsers xmlns="58b89f83-7267-4e05-9cc9-553559b8ec9f">
      <UserInfo>
        <DisplayName/>
        <AccountId xsi:nil="true"/>
        <AccountType/>
      </UserInfo>
    </SharedWithUsers>
    <MediaLengthInSeconds xmlns="9d87457a-dd41-435b-9930-4d78cdfcb6d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1EAC95-FE33-4811-BF32-6FF63D2B34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87457a-dd41-435b-9930-4d78cdfcb6d7"/>
    <ds:schemaRef ds:uri="58b89f83-7267-4e05-9cc9-553559b8ec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D96A04-6DA5-42B6-8F9E-CE5BCA0F2506}">
  <ds:schemaRefs>
    <ds:schemaRef ds:uri="http://schemas.microsoft.com/office/2006/metadata/properties"/>
    <ds:schemaRef ds:uri="http://schemas.microsoft.com/office/infopath/2007/PartnerControls"/>
    <ds:schemaRef ds:uri="9d87457a-dd41-435b-9930-4d78cdfcb6d7"/>
    <ds:schemaRef ds:uri="58b89f83-7267-4e05-9cc9-553559b8ec9f"/>
  </ds:schemaRefs>
</ds:datastoreItem>
</file>

<file path=customXml/itemProps3.xml><?xml version="1.0" encoding="utf-8"?>
<ds:datastoreItem xmlns:ds="http://schemas.openxmlformats.org/officeDocument/2006/customXml" ds:itemID="{0EA4298A-3F20-45FA-8140-639C20FF30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14887</TotalTime>
  <Words>833</Words>
  <Application>Microsoft Office PowerPoint</Application>
  <PresentationFormat>宽屏</PresentationFormat>
  <Paragraphs>143</Paragraphs>
  <Slides>18</Slides>
  <Notes>6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Avenir Next</vt:lpstr>
      <vt:lpstr>Arial</vt:lpstr>
      <vt:lpstr>Calibri</vt:lpstr>
      <vt:lpstr>Century Gothic</vt:lpstr>
      <vt:lpstr>Wingdings</vt:lpstr>
      <vt:lpstr>Office Theme</vt:lpstr>
      <vt:lpstr>DI22001 Algorithms and  Artificial Intelligence</vt:lpstr>
      <vt:lpstr>AI Project Assignment</vt:lpstr>
      <vt:lpstr>AI Project Goals</vt:lpstr>
      <vt:lpstr>Above and Beyond</vt:lpstr>
      <vt:lpstr>AI Project “Ingredients” (and sizes)</vt:lpstr>
      <vt:lpstr>PowerPoint 演示文稿</vt:lpstr>
      <vt:lpstr>AI Project Narrative</vt:lpstr>
      <vt:lpstr>Key Questions tackling an AI problem</vt:lpstr>
      <vt:lpstr>Templates (optional)  Marking Scheme  Submission</vt:lpstr>
      <vt:lpstr>Presentation “penalties”</vt:lpstr>
      <vt:lpstr>Peer Reviews</vt:lpstr>
      <vt:lpstr>Preparing the proposal</vt:lpstr>
      <vt:lpstr>Preparing the presentation</vt:lpstr>
      <vt:lpstr>Preparing the presentation</vt:lpstr>
      <vt:lpstr>Preparing the final report</vt:lpstr>
      <vt:lpstr>Concluding Remarks</vt:lpstr>
      <vt:lpstr>Questions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Islem Rekik (Staff)</dc:creator>
  <cp:lastModifiedBy>Shu Liu (Staff)</cp:lastModifiedBy>
  <cp:revision>600</cp:revision>
  <cp:lastPrinted>2017-01-15T20:55:51Z</cp:lastPrinted>
  <dcterms:created xsi:type="dcterms:W3CDTF">2017-01-09T11:39:11Z</dcterms:created>
  <dcterms:modified xsi:type="dcterms:W3CDTF">2026-05-06T01:30:41Z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0x010100C7E1AD08E6C4EC4C99DA94898F3BEEA6</vt:lpwstr>
  </property>
  <property fmtid="{D5CDD505-2E9C-101B-9397-08002B2CF9AE}" pid="3" name="Order">
    <vt:r8>493200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